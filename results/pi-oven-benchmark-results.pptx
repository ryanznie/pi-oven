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2f9b4a56f84b6a" /><Relationship Type="http://schemas.openxmlformats.org/officeDocument/2006/relationships/extended-properties" Target="/docProps/app.xml" Id="R418666fd0c3348dc" /><Relationship Type="http://schemas.openxmlformats.org/officeDocument/2006/relationships/officeDocument" Target="/ppt/presentation.xml" Id="Ra149913583e240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3f283bd7ea402d"/>
  </p:sldMasterIdLst>
  <p:notesMasterIdLst>
    <p:notesMasterId xmlns:r="http://schemas.openxmlformats.org/officeDocument/2006/relationships" r:id="R2126a3b702594274"/>
  </p:notesMasterIdLst>
  <p:sldIdLst>
    <p:sldId xmlns:r="http://schemas.openxmlformats.org/officeDocument/2006/relationships" id="256" r:id="Rca94ab4a3d9f4b42"/>
    <p:sldId xmlns:r="http://schemas.openxmlformats.org/officeDocument/2006/relationships" id="257" r:id="R9f1f10a045214911"/>
    <p:sldId xmlns:r="http://schemas.openxmlformats.org/officeDocument/2006/relationships" id="258" r:id="R511a74f0ec5247fa"/>
    <p:sldId xmlns:r="http://schemas.openxmlformats.org/officeDocument/2006/relationships" id="259" r:id="Rc97b3a6f88504f51"/>
    <p:sldId xmlns:r="http://schemas.openxmlformats.org/officeDocument/2006/relationships" id="260" r:id="R5a8cdf1318444638"/>
    <p:sldId xmlns:r="http://schemas.openxmlformats.org/officeDocument/2006/relationships" id="261" r:id="R8bd21d24dfa340b4"/>
    <p:sldId xmlns:r="http://schemas.openxmlformats.org/officeDocument/2006/relationships" id="262" r:id="Rf688c459f0cb439c"/>
    <p:sldId xmlns:r="http://schemas.openxmlformats.org/officeDocument/2006/relationships" id="263" r:id="Re4cf787097c94d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46380d5ac14eaa" /><Relationship Type="http://schemas.openxmlformats.org/officeDocument/2006/relationships/slideMaster" Target="/ppt/slideMasters/slideMaster1.xml" Id="R8d3f283bd7ea402d" /><Relationship Type="http://schemas.openxmlformats.org/officeDocument/2006/relationships/notesMaster" Target="/ppt/notesMasters/notesMaster1.xml" Id="R2126a3b702594274" /><Relationship Type="http://schemas.openxmlformats.org/officeDocument/2006/relationships/presProps" Target="/ppt/presProps.xml" Id="R234e1534950d492e" /><Relationship Type="http://schemas.openxmlformats.org/officeDocument/2006/relationships/tableStyles" Target="/ppt/tableStyles.xml" Id="Rec02d611ccf74c65" /><Relationship Type="http://schemas.openxmlformats.org/officeDocument/2006/relationships/slide" Target="/ppt/slides/slide1.xml" Id="Rca94ab4a3d9f4b42" /><Relationship Type="http://schemas.openxmlformats.org/officeDocument/2006/relationships/slide" Target="/ppt/slides/slide2.xml" Id="R9f1f10a045214911" /><Relationship Type="http://schemas.openxmlformats.org/officeDocument/2006/relationships/slide" Target="/ppt/slides/slide3.xml" Id="R511a74f0ec5247fa" /><Relationship Type="http://schemas.openxmlformats.org/officeDocument/2006/relationships/slide" Target="/ppt/slides/slide4.xml" Id="Rc97b3a6f88504f51" /><Relationship Type="http://schemas.openxmlformats.org/officeDocument/2006/relationships/slide" Target="/ppt/slides/slide5.xml" Id="R5a8cdf1318444638" /><Relationship Type="http://schemas.openxmlformats.org/officeDocument/2006/relationships/slide" Target="/ppt/slides/slide6.xml" Id="R8bd21d24dfa340b4" /><Relationship Type="http://schemas.openxmlformats.org/officeDocument/2006/relationships/slide" Target="/ppt/slides/slide7.xml" Id="Rf688c459f0cb439c" /><Relationship Type="http://schemas.openxmlformats.org/officeDocument/2006/relationships/slide" Target="/ppt/slides/slide8.xml" Id="Re4cf787097c94d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39fd7d40d041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9b903260f24be6" /><Relationship Type="http://schemas.openxmlformats.org/officeDocument/2006/relationships/notesMaster" Target="/ppt/notesMasters/notesMaster1.xml" Id="Ree20349a625848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aa63645bb4f89" /><Relationship Type="http://schemas.openxmlformats.org/officeDocument/2006/relationships/notesMaster" Target="/ppt/notesMasters/notesMaster1.xml" Id="Rc574dc04b6fe4e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28c5cd6bb347bf" /><Relationship Type="http://schemas.openxmlformats.org/officeDocument/2006/relationships/notesMaster" Target="/ppt/notesMasters/notesMaster1.xml" Id="R1f9b93fc80444e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7660ade8bfc4184" /><Relationship Type="http://schemas.openxmlformats.org/officeDocument/2006/relationships/notesMaster" Target="/ppt/notesMasters/notesMaster1.xml" Id="Ra280903a4dbd4fa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85665cdf904fb1" /><Relationship Type="http://schemas.openxmlformats.org/officeDocument/2006/relationships/notesMaster" Target="/ppt/notesMasters/notesMaster1.xml" Id="Rc5e950d7e719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11421a5b544713" /><Relationship Type="http://schemas.openxmlformats.org/officeDocument/2006/relationships/notesMaster" Target="/ppt/notesMasters/notesMaster1.xml" Id="Rc694e8c7535049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94fe006e824ad8" /><Relationship Type="http://schemas.openxmlformats.org/officeDocument/2006/relationships/notesMaster" Target="/ppt/notesMasters/notesMaster1.xml" Id="R984387c9f3e74e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ecf8ff3c6948da" /><Relationship Type="http://schemas.openxmlformats.org/officeDocument/2006/relationships/notesMaster" Target="/ppt/notesMasters/notesMaster1.xml" Id="R7f51b29dd1ab4b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- results/perf_stat.txt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results/plots/llama_bench_generation_throughput.png</a:t>
            </a:r>
          </a:p>
          <a:p xmlns:a="http://schemas.openxmlformats.org/drawingml/2006/main">
            <a:r>
              <a:t>- results/plots/llama_bench_prefill_throughput.png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results/plots/thread_scaling_wall_time.png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results/plots/speculative_wall_time.png</a:t>
            </a:r>
          </a:p>
          <a:p xmlns:a="http://schemas.openxmlformats.org/drawingml/2006/main">
            <a:r>
              <a:t>- results/benchmark_results.jsonl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results/plots/perf_summary.png</a:t>
            </a:r>
          </a:p>
          <a:p xmlns:a="http://schemas.openxmlformats.org/drawingml/2006/main">
            <a:r>
              <a:t>- results/perf_stat.txt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results/analytics/summary.csv</a:t>
            </a:r>
          </a:p>
          <a:p xmlns:a="http://schemas.openxmlformats.org/drawingml/2006/main">
            <a:r>
              <a:t>- results/analytics/report.md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results/analytics/report.md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91732f9f7a40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6d72b9041a47f0" /><Relationship Type="http://schemas.openxmlformats.org/officeDocument/2006/relationships/slideLayout" Target="/ppt/slideLayouts/slideLayout1.xml" Id="R3b2a39c495fd4c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2a39c495fd4c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c14e5733e4f5b" /><Relationship Type="http://schemas.openxmlformats.org/officeDocument/2006/relationships/notesSlide" Target="/ppt/notesSlides/notesSlide1.xml" Id="R17662a4cfdd247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0631ab3554de8" /><Relationship Type="http://schemas.openxmlformats.org/officeDocument/2006/relationships/notesSlide" Target="/ppt/notesSlides/notesSlide2.xml" Id="R68199cba5b5d4ef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13e447a554223" /><Relationship Type="http://schemas.openxmlformats.org/officeDocument/2006/relationships/image" Target="/ppt/media/image.png" Id="R46493d8073f04e76" /><Relationship Type="http://schemas.openxmlformats.org/officeDocument/2006/relationships/image" Target="/ppt/media/image2.png" Id="R883d69e3654f401b" /><Relationship Type="http://schemas.openxmlformats.org/officeDocument/2006/relationships/notesSlide" Target="/ppt/notesSlides/notesSlide3.xml" Id="R19e93a6bc86a4e8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d94e5dcbb418c" /><Relationship Type="http://schemas.openxmlformats.org/officeDocument/2006/relationships/image" Target="/ppt/media/image3.png" Id="R51caa1d1b6b544a3" /><Relationship Type="http://schemas.openxmlformats.org/officeDocument/2006/relationships/notesSlide" Target="/ppt/notesSlides/notesSlide4.xml" Id="R70dd33aaf37843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2350a97db947de" /><Relationship Type="http://schemas.openxmlformats.org/officeDocument/2006/relationships/image" Target="/ppt/media/image4.png" Id="Re77fa7114db4419d" /><Relationship Type="http://schemas.openxmlformats.org/officeDocument/2006/relationships/notesSlide" Target="/ppt/notesSlides/notesSlide5.xml" Id="R9f1d3376dae143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eed4265dc42f2" /><Relationship Type="http://schemas.openxmlformats.org/officeDocument/2006/relationships/image" Target="/ppt/media/image5.png" Id="Ra4340232b4bd4eef" /><Relationship Type="http://schemas.openxmlformats.org/officeDocument/2006/relationships/notesSlide" Target="/ppt/notesSlides/notesSlide6.xml" Id="R263a33d410814a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7d147225894b32" /><Relationship Type="http://schemas.openxmlformats.org/officeDocument/2006/relationships/notesSlide" Target="/ppt/notesSlides/notesSlide7.xml" Id="R1efaf1d5aa9e4e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dd3a9dc084e53" /><Relationship Type="http://schemas.openxmlformats.org/officeDocument/2006/relationships/notesSlide" Target="/ppt/notesSlides/notesSlide8.xml" Id="Rbca3b6e300f1446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77C29-6B0A-4E24-B8F2-9A5373D5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PI OVEN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8E6A3-A291-4873-8D10-9234FF3E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10001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Edge LLM optimization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on Raspberry 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AD3AA1-BF2E-48DE-B5E6-AFC217A9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Qwen2.5 1.5B Q4_K_M | llama.cpp | CPU-only ARM64</a:t>
            </a:r>
          </a:p>
        </p:txBody>
      </p:sp>
    </p:spTree>
    <p:extLst>
      <p:ext uri="{BB962C8B-B14F-4D97-AF65-F5344CB8AC3E}">
        <p14:creationId xmlns:p14="http://schemas.microsoft.com/office/powerpoint/2010/main" val="781249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AD9E42-1652-42CD-A7B2-85E961536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completed run establishes a usable CPU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C257C0-792E-40CB-834D-119BD550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000C1-011E-4218-A8D1-B5D00EC3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076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Nine successful runs cover KV-cache precision, thread scaling, speculative decoding, llama-bench throughput, and Linux perf counters.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FDF1BC-2A8B-4717-9908-38F23E69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35623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883CAD-33EE-4958-A046-4B93F39E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6A34A"/>
                </a:solidFill>
                <a:latin typeface="Helvetica Neue"/>
                <a:ea typeface="Helvetica Neue"/>
                <a:cs typeface="Helvetica Neue"/>
              </a:rPr>
              <a:t>3.080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0C055-8E07-45A5-A1E4-BF90B497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tokens/s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604C96-EE83-4CAF-8542-62908909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measured generation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54FA1-2158-449E-8B12-AA212072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95600"/>
            <a:ext cx="35623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8280-AEB8-4648-BBD6-279BBBB2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33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7.112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CD95D-D7C2-41AB-A0F6-8455717E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3434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tokens/s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A313FA-3B7B-4E2A-9E09-A03B5440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5010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measured prefill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998A2A-5889-4861-8866-22FF6430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95600"/>
            <a:ext cx="35623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445B2-F0A8-4FFF-8873-9A9B0A0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3.628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66EAB-9CD6-4F55-A2DE-01BEB789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3434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cores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0B1DD-CFEB-4E07-BBB0-CB5CBA58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1015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Average CPU utilization</a:t>
            </a:r>
          </a:p>
        </p:txBody>
      </p:sp>
    </p:spTree>
    <p:extLst>
      <p:ext uri="{BB962C8B-B14F-4D97-AF65-F5344CB8AC3E}">
        <p14:creationId xmlns:p14="http://schemas.microsoft.com/office/powerpoint/2010/main" val="734626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B03B0-5AAF-4596-83C2-C3F25160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F16 and Q8 KV caches are effectively tied for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F37B8-816F-4067-B958-3DC3E78F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E6546-214B-4248-BADC-8EB48732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54768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93d8073f04e76"/>
          <a:stretch xmlns:a="http://schemas.openxmlformats.org/drawingml/2006/main"/>
        </p:blipFill>
        <p:spPr>
          <a:xfrm xmlns:a="http://schemas.openxmlformats.org/drawingml/2006/main">
            <a:off x="476250" y="1881823"/>
            <a:ext cx="5324475" cy="248475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1783CF-4A68-4027-81B2-D8654344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219200"/>
            <a:ext cx="547687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3d69e3654f401b"/>
          <a:stretch xmlns:a="http://schemas.openxmlformats.org/drawingml/2006/main"/>
        </p:blipFill>
        <p:spPr>
          <a:xfrm xmlns:a="http://schemas.openxmlformats.org/drawingml/2006/main">
            <a:off x="6391275" y="1881823"/>
            <a:ext cx="5324475" cy="248475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C246B-A8EF-4233-9FB1-FE48EFD5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Generation: F16 leads Q8 by only 0.67%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D49248-25F8-45E0-8FA3-B45E0758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57800"/>
            <a:ext cx="523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Prefill: F16 leads Q8 by 4.23%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AEE3EB-1B41-4D9D-8697-F97F4B0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One sample per condition: treat small differences as directional, not conclusive.</a:t>
            </a:r>
          </a:p>
        </p:txBody>
      </p:sp>
    </p:spTree>
    <p:extLst>
      <p:ext uri="{BB962C8B-B14F-4D97-AF65-F5344CB8AC3E}">
        <p14:creationId xmlns:p14="http://schemas.microsoft.com/office/powerpoint/2010/main" val="1948662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0AB3D-C54C-4D08-BAAD-80C08E11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Two threads capture almost all available scaling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519F35-025B-4375-AA64-D0ADADD9B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DA635-80E3-411C-9F66-09B01CDB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524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aa1d1b6b544a3"/>
          <a:stretch xmlns:a="http://schemas.openxmlformats.org/drawingml/2006/main"/>
        </p:blipFill>
        <p:spPr>
          <a:xfrm xmlns:a="http://schemas.openxmlformats.org/drawingml/2006/main">
            <a:off x="476250" y="2385060"/>
            <a:ext cx="5372100" cy="25069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BAB1-BDF2-43BB-BC0B-9A267B6C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1.80x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A44C9-88E9-4015-B4A2-6AB85605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speedup from 1 to 2 threads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0BF15-A527-4352-8476-56120D35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25241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17D3D-21BF-4FE9-B64A-EB70B5F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467100"/>
            <a:ext cx="2524125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CF2D95-8615-45FC-86C7-1FD70A2A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86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98.422s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E96779-D300-4A76-8FD0-6662901B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67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2 threads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Best efficiency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BC94A5-45B9-4FD1-ADA7-EDDB7F6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209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96.317s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8543F-55DF-495F-B84D-528A20182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67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4 threads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Fastest overall</a:t>
            </a:r>
          </a:p>
        </p:txBody>
      </p:sp>
    </p:spTree>
    <p:extLst>
      <p:ext uri="{BB962C8B-B14F-4D97-AF65-F5344CB8AC3E}">
        <p14:creationId xmlns:p14="http://schemas.microsoft.com/office/powerpoint/2010/main" val="16986162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0B674-8E41-45DC-8F29-EF8395C7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Speculative decoding is slower on this configuration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88554-BEFC-4492-9A93-C9964A82D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38055-0631-4F19-92A9-B19F2AF1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0975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DC2626"/>
                </a:solidFill>
                <a:latin typeface="Helvetica Neue"/>
                <a:ea typeface="Helvetica Neue"/>
                <a:cs typeface="Helvetica Neue"/>
              </a:rPr>
              <a:t>2.17x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15095-9EE7-477C-B8E8-4193C7B9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longer wall time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306F3-9AC7-4CFD-B15F-5184F6C8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6385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The 0.5B draft model adds more work than it saves. Acceptance rate was not captured, so the run shows the outcome but not the exact cause.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45580E-BA49-420A-A822-DC0DBEAF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200150"/>
            <a:ext cx="58102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fa7114db4419d"/>
          <a:stretch xmlns:a="http://schemas.openxmlformats.org/drawingml/2006/main"/>
        </p:blipFill>
        <p:spPr>
          <a:xfrm xmlns:a="http://schemas.openxmlformats.org/drawingml/2006/main">
            <a:off x="6057900" y="2308860"/>
            <a:ext cx="5657850" cy="2640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2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F74E7F-0405-41AB-8F93-94C0D108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CPU is well utilized, but pipeline efficiency is modest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55C3D-8566-4153-AEA8-8D1E68E4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9C8C93-25BA-47E6-BF24-DA6C7DA8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5715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340232b4bd4eef"/>
          <a:stretch xmlns:a="http://schemas.openxmlformats.org/drawingml/2006/main"/>
        </p:blipFill>
        <p:spPr>
          <a:xfrm xmlns:a="http://schemas.openxmlformats.org/drawingml/2006/main">
            <a:off x="476250" y="2340610"/>
            <a:ext cx="5562600" cy="259588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1FCAF-0F49-4E1F-A558-5386C06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28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3.628 cores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13B06-82C8-450F-8725-BB44F640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90.7% of the four-core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6EA6-FC20-49C8-B2A5-65F01477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52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0.82 IPC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BAE45C-6A52-426C-81E3-47114EFC5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433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Substantial execution stalls remain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65CC2-14F9-402B-AEF6-0E61083B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57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0.69% L1 miss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83E011-2332-4AD3-9F4F-52CE5E10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067300"/>
            <a:ext cx="457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L1 cache is not the obvious bottleneck</a:t>
            </a:r>
          </a:p>
        </p:txBody>
      </p:sp>
    </p:spTree>
    <p:extLst>
      <p:ext uri="{BB962C8B-B14F-4D97-AF65-F5344CB8AC3E}">
        <p14:creationId xmlns:p14="http://schemas.microsoft.com/office/powerpoint/2010/main" val="4251161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AB72B-0528-47C7-8E5A-0B527338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85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The best method depends on whether speed or efficiency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20D93-ACA9-4A7F-9C70-8496A426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674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161D0-B389-4424-A6C9-E18884ED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Use the winner within each comparable category; do not compare normalized scores across different metrics.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90750"/>
                <a:gridCol w="1809750"/>
                <a:gridCol w="2000250"/>
                <a:gridCol w="1524000"/>
                <a:gridCol w="386715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Winner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Measured result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Recommendation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Generation speed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F16 KV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3.080 tok/s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Tie in practice with Q8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Prefill speed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F16 KV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7.112 tok/s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Retest with repetitions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Lowest latency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4 threads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96.317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Use for fastest response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CPU efficiency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2 threads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98.422 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Only 2.2% behind four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Decode method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Standard Q8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2.17x faster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Medium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Skip speculative for now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Lowest memory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Unknown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RAM not captured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None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111"/>
                          </a:solidFill>
                        </a:rPr>
                        <a:t>Measure RSS before deciding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06227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1B339-B5A7-48F6-8E3B-96383BE5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F0CBB-029D-4C01-9662-762057FE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0287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Make the next run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11111"/>
                </a:solidFill>
                <a:latin typeface="Helvetica Neue"/>
                <a:ea typeface="Helvetica Neue"/>
                <a:cs typeface="Helvetica Neue"/>
              </a:rPr>
              <a:t>comparison-grade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5BA363-D477-4DFB-ABEE-B47C97088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429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3+ repetitions with warmup</a:t>
            </a:r>
          </a:p>
          <a:p xmlns:a="http://schemas.openxmlformats.org/drawingml/2006/main">
            <a:pPr algn="l">
              <a:def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Actual token count and TTFT</a:t>
            </a:r>
          </a:p>
          <a:p xmlns:a="http://schemas.openxmlformats.org/drawingml/2006/main">
            <a:pPr algn="l">
              <a:def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7534E"/>
                </a:solidFill>
                <a:latin typeface="Helvetica Neue"/>
                <a:ea typeface="Helvetica Neue"/>
                <a:cs typeface="Helvetica Neue"/>
              </a:rPr>
              <a:t>Peak RAM, temperature, and speculative acceptance rate</a:t>
            </a:r>
          </a:p>
        </p:txBody>
      </p:sp>
    </p:spTree>
    <p:extLst>
      <p:ext uri="{BB962C8B-B14F-4D97-AF65-F5344CB8AC3E}">
        <p14:creationId xmlns:p14="http://schemas.microsoft.com/office/powerpoint/2010/main" val="8884852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2026-08-09T23:57:16.8240000Z</dcterms:created>
  <dcterms:modified xsi:type="dcterms:W3CDTF">2026-08-09T23:57:16.8240000Z</dcterms:modified>
</coreProperties>
</file>